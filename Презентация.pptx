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2.xml" ContentType="application/vnd.openxmlformats-officedocument.presentationml.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slideLayouts/slideLayout23.xml" ContentType="application/vnd.openxmlformats-officedocument.presentationml.slideLayout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12192000" cy="6858000"/>
  <p:defaultTextStyle>
    <a:defPPr>
      <a:defRPr lang="ru-RU"/>
    </a:defPPr>
    <a:lvl1pPr marL="0" algn="l" defTabSz="91422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961852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537346073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951703684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538110690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72815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9599859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18425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/>
            </a:fld>
            <a:endParaRPr lang="ru-RU"/>
          </a:p>
        </p:txBody>
      </p:sp>
      <p:sp>
        <p:nvSpPr>
          <p:cNvPr id="13177258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10733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54902837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64284281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9651475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38448908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059636020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34268574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51344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/>
            </a:fld>
            <a:endParaRPr lang="ru-RU"/>
          </a:p>
        </p:txBody>
      </p:sp>
      <p:sp>
        <p:nvSpPr>
          <p:cNvPr id="3772854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7342232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0981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5158948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/>
            </a:fld>
            <a:endParaRPr lang="ru-RU"/>
          </a:p>
        </p:txBody>
      </p:sp>
      <p:sp>
        <p:nvSpPr>
          <p:cNvPr id="33559869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998443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70096384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919817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48843339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0162757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/>
            </a:fld>
            <a:endParaRPr lang="ru-RU"/>
          </a:p>
        </p:txBody>
      </p:sp>
      <p:sp>
        <p:nvSpPr>
          <p:cNvPr id="13077873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16871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47179687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07930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59104012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47951501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5773663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077965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/>
            </a:fld>
            <a:endParaRPr lang="ru-RU"/>
          </a:p>
        </p:txBody>
      </p:sp>
      <p:sp>
        <p:nvSpPr>
          <p:cNvPr id="27996391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3289631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56652485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9895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/>
            </a:fld>
            <a:endParaRPr lang="ru-RU"/>
          </a:p>
        </p:txBody>
      </p:sp>
      <p:sp>
        <p:nvSpPr>
          <p:cNvPr id="8473754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266529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8824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07460810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2744766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2767606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/>
            </a:fld>
            <a:endParaRPr lang="ru-RU"/>
          </a:p>
        </p:txBody>
      </p:sp>
      <p:sp>
        <p:nvSpPr>
          <p:cNvPr id="17664120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450232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65051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/>
            </a:fld>
            <a:endParaRPr lang="ru-RU"/>
          </a:p>
        </p:txBody>
      </p:sp>
      <p:sp>
        <p:nvSpPr>
          <p:cNvPr id="113353469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717770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824258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3562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/>
            </a:fld>
            <a:endParaRPr lang="ru-RU"/>
          </a:p>
        </p:txBody>
      </p:sp>
      <p:sp>
        <p:nvSpPr>
          <p:cNvPr id="16154238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1235220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882259179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80034351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3839948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264854653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6699602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78103919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60159343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59673995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991180294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0905274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529539568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054474647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231515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6084165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267375142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649460064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6071931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114774664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533074536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33417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/>
            </a:fld>
            <a:endParaRPr lang="ru-RU"/>
          </a:p>
        </p:txBody>
      </p:sp>
      <p:sp>
        <p:nvSpPr>
          <p:cNvPr id="5539934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226038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448615826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54346014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28898637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65735036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33198014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76874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/>
            </a:fld>
            <a:endParaRPr lang="ru-RU"/>
          </a:p>
        </p:txBody>
      </p:sp>
      <p:sp>
        <p:nvSpPr>
          <p:cNvPr id="21201995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630030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90792260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6971976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0106688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700192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60727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0025743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13729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/>
            </a:fld>
            <a:endParaRPr lang="ru-RU"/>
          </a:p>
        </p:txBody>
      </p:sp>
      <p:sp>
        <p:nvSpPr>
          <p:cNvPr id="177740803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0379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633452480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9312827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213644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323083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0609099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4693533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208128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09351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/>
            </a:fld>
            <a:endParaRPr lang="ru-RU"/>
          </a:p>
        </p:txBody>
      </p:sp>
      <p:sp>
        <p:nvSpPr>
          <p:cNvPr id="2391530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97602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679210305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8912111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525614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109000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932815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8547352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885611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114212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323242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50783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/>
            </a:fld>
            <a:endParaRPr lang="ru-RU"/>
          </a:p>
        </p:txBody>
      </p:sp>
      <p:sp>
        <p:nvSpPr>
          <p:cNvPr id="5462409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05977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386361037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1007235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022373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569871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84127007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442704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953217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2146110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1337262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3229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/>
            </a:fld>
            <a:endParaRPr lang="ru-RU"/>
          </a:p>
        </p:txBody>
      </p:sp>
      <p:sp>
        <p:nvSpPr>
          <p:cNvPr id="109841654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245530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203142579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647033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026295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2320126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8367566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8742902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58699211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502161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318140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76582576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64564878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44088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/>
            </a:fld>
            <a:endParaRPr lang="ru-RU"/>
          </a:p>
        </p:txBody>
      </p:sp>
      <p:sp>
        <p:nvSpPr>
          <p:cNvPr id="32856650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32226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59764633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97065502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924624093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73816306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828321038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687858916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315872225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47631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28488979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/>
            </a:fld>
            <a:endParaRPr lang="ru-RU"/>
          </a:p>
        </p:txBody>
      </p:sp>
      <p:sp>
        <p:nvSpPr>
          <p:cNvPr id="59191775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30099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89248287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537134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7427764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60450472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98057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/>
            </a:fld>
            <a:endParaRPr lang="ru-RU"/>
          </a:p>
        </p:txBody>
      </p:sp>
      <p:sp>
        <p:nvSpPr>
          <p:cNvPr id="50099375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044757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81051678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7162526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77023081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46244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214249924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3075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426314757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2167014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814751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08850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355506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93338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6905780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2772892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232667707" name="Google Shape;2799;p94"/>
          <p:cNvCxnSpPr>
            <a:cxnSpLocks/>
          </p:cNvCxnSpPr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6221656" name="Google Shape;2799;p94"/>
          <p:cNvCxnSpPr>
            <a:cxnSpLocks/>
          </p:cNvCxnSpPr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2575532" name="Google Shape;2799;p94"/>
          <p:cNvCxnSpPr>
            <a:cxnSpLocks/>
          </p:cNvCxnSpPr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542489" name="Google Shape;2799;p94"/>
          <p:cNvCxnSpPr>
            <a:cxnSpLocks/>
          </p:cNvCxnSpPr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2743741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32582406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/>
            </a:fld>
            <a:endParaRPr lang="ru-RU"/>
          </a:p>
        </p:txBody>
      </p:sp>
      <p:sp>
        <p:nvSpPr>
          <p:cNvPr id="1825669528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6271744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587883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04540820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80670641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75484046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895704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/>
            </a:fld>
            <a:endParaRPr lang="ru-RU"/>
          </a:p>
        </p:txBody>
      </p:sp>
      <p:sp>
        <p:nvSpPr>
          <p:cNvPr id="161997055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13018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979918944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54756326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07185065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61727554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98440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011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16058627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250265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/>
            </a:fld>
            <a:endParaRPr lang="ru-RU"/>
          </a:p>
        </p:txBody>
      </p:sp>
      <p:sp>
        <p:nvSpPr>
          <p:cNvPr id="16907526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97489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.png"/><Relationship Id="rId3" Type="http://schemas.openxmlformats.org/officeDocument/2006/relationships/hyperlink" Target="https://github.com/smm12vlad-bot/Finny-pet" TargetMode="External"/><Relationship Id="rId4" Type="http://schemas.openxmlformats.org/officeDocument/2006/relationships/hyperlink" Target="https://github.com/smm12vlad-bot/Finny-pet/blob/main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182432" name="Заголовок 2"/>
          <p:cNvSpPr>
            <a:spLocks noGrp="1"/>
          </p:cNvSpPr>
          <p:nvPr>
            <p:ph type="ctrTitle"/>
          </p:nvPr>
        </p:nvSpPr>
        <p:spPr bwMode="auto">
          <a:xfrm flipH="0" flipV="0">
            <a:off x="0" y="3894512"/>
            <a:ext cx="6963671" cy="1706742"/>
          </a:xfrm>
        </p:spPr>
        <p:txBody>
          <a:bodyPr/>
          <a:lstStyle/>
          <a:p>
            <a:pPr marL="268288" indent="0">
              <a:defRPr/>
            </a:pPr>
            <a:r>
              <a:rPr lang="en-US" sz="4800"/>
              <a:t>MATRIX (</a:t>
            </a:r>
            <a:r>
              <a:rPr lang="ru-RU" sz="4800"/>
              <a:t>МАТРИКС</a:t>
            </a:r>
            <a:r>
              <a:rPr lang="en-US" sz="4800"/>
              <a:t>)</a:t>
            </a:r>
            <a:endParaRPr lang="ru-RU" sz="4800"/>
          </a:p>
        </p:txBody>
      </p:sp>
      <p:sp>
        <p:nvSpPr>
          <p:cNvPr id="1265596125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/>
              <a:t>Задача #6 | Департамент финансов | ЛЦТ 26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70334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542139743" name=""/>
          <p:cNvPicPr>
            <a:picLocks noChangeAspect="1"/>
          </p:cNvPicPr>
          <p:nvPr>
            <p:ph type="pic" sz="quarter" idx="10"/>
          </p:nvPr>
        </p:nvPicPr>
        <p:blipFill>
          <a:blip r:embed="rId3"/>
          <a:stretch/>
        </p:blipFill>
        <p:spPr bwMode="auto">
          <a:xfrm rot="0">
            <a:off x="587999" y="335266"/>
            <a:ext cx="5280364" cy="2971783"/>
          </a:xfrm>
          <a:prstGeom prst="rect">
            <a:avLst/>
          </a:prstGeom>
        </p:spPr>
      </p:pic>
      <p:sp>
        <p:nvSpPr>
          <p:cNvPr id="586016608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555963202" name="Текст 8"/>
          <p:cNvSpPr txBox="1"/>
          <p:nvPr/>
        </p:nvSpPr>
        <p:spPr bwMode="auto">
          <a:xfrm flipH="0" flipV="0">
            <a:off x="6836605" y="4905453"/>
            <a:ext cx="4945564" cy="1244181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 sz="1400">
                <a:solidFill>
                  <a:schemeClr val="tx1"/>
                </a:solidFill>
              </a:rPr>
              <a:t>Виртуальный питомец связывает финансовые решения с понятным игровым результатом. Ребенок распределяет ограниченный ресурс, сравнивает план с фактическими расходами, </a:t>
            </a:r>
            <a:r>
              <a:rPr sz="1400">
                <a:solidFill>
                  <a:schemeClr val="tx1"/>
                </a:solidFill>
              </a:rPr>
              <a:t>формирует </a:t>
            </a:r>
            <a:r>
              <a:rPr sz="1400">
                <a:solidFill>
                  <a:schemeClr val="tx1"/>
                </a:solidFill>
              </a:rPr>
              <a:t>накопления и видит изменение состояния и развития питомца.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111778581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Кальмин Сергей </a:t>
            </a:r>
            <a:r>
              <a:rPr>
                <a:solidFill>
                  <a:schemeClr val="tx1"/>
                </a:solidFill>
              </a:rPr>
              <a:t>Александрович</a:t>
            </a:r>
            <a:r>
              <a:rPr lang="ru-RU">
                <a:solidFill>
                  <a:schemeClr val="tx1"/>
                </a:solidFill>
              </a:rPr>
              <a:t>, гейм-дизайнер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5 человек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как образовалась команда? </a:t>
            </a:r>
            <a:r>
              <a:rPr>
                <a:solidFill>
                  <a:schemeClr val="tx1"/>
                </a:solidFill>
              </a:rPr>
              <a:t>Команда сформирована из студентов одной учебной группы. Участники распределили роли с учетом своих навыков и интересов.</a:t>
            </a:r>
            <a:endParaRPr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место работы/учебы участников?</a:t>
            </a:r>
            <a:r>
              <a:rPr lang="ru-RU" i="1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ГБПОУ «БПТ»</a:t>
            </a:r>
            <a:endParaRPr lang="ru-RU" i="1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г. Богородск, Нижегородская Область</a:t>
            </a:r>
            <a:endParaRPr/>
          </a:p>
        </p:txBody>
      </p:sp>
      <p:sp>
        <p:nvSpPr>
          <p:cNvPr id="1501668022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5088716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en-US" sz="2400">
                <a:solidFill>
                  <a:schemeClr val="accent5"/>
                </a:solidFill>
                <a:latin typeface="+mn-lt"/>
              </a:rPr>
              <a:t>MATRIX (</a:t>
            </a:r>
            <a:r>
              <a:rPr lang="ru-RU" sz="2400">
                <a:solidFill>
                  <a:schemeClr val="accent5"/>
                </a:solidFill>
                <a:latin typeface="Montserrat"/>
              </a:rPr>
              <a:t>МАТРИКС</a:t>
            </a:r>
            <a:r>
              <a:rPr lang="en-US" sz="2400">
                <a:solidFill>
                  <a:schemeClr val="accent5"/>
                </a:solidFill>
                <a:latin typeface="Montserrat"/>
              </a:rPr>
              <a:t>)</a:t>
            </a:r>
            <a:endParaRPr lang="ru-RU" sz="240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294736806" name="Прямая соединительная линия 6"/>
          <p:cNvCxnSpPr>
            <a:cxnSpLocks/>
          </p:cNvCxnSpPr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4083302" name="Прямая соединительная линия 15"/>
          <p:cNvCxnSpPr>
            <a:cxnSpLocks/>
          </p:cNvCxnSpPr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9953014" name="Прямая соединительная линия 16"/>
          <p:cNvCxnSpPr>
            <a:cxnSpLocks/>
          </p:cNvCxnSpPr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382742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597166866" name="Текст 8"/>
          <p:cNvSpPr txBox="1"/>
          <p:nvPr/>
        </p:nvSpPr>
        <p:spPr bwMode="auto">
          <a:xfrm flipH="0" flipV="0">
            <a:off x="6808026" y="2706438"/>
            <a:ext cx="4945564" cy="1556691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sz="1600">
                <a:solidFill>
                  <a:schemeClr val="tx1"/>
                </a:solidFill>
              </a:rPr>
              <a:t>«Питомец Финни» — мобильное приложение для детей 7–11 лет, которое в игровой форме формирует базовые навыки управления личными финансами. Ребенок создает виртуального питомца, получает игровую валюту, планирует ее распределение между обязательными и необязательными расходами, формирует накопления и выполняет финансовые задания.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423350465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/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664858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1453217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Разработчик игр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@glebeku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+79200047548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ГБПОУ «Богородский Политехнический Техникум»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707529188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Глеб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>
                <a:solidFill>
                  <a:schemeClr val="accent5"/>
                </a:solidFill>
              </a:rPr>
              <a:t>Козлов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1373094222" name="Скругленный прямоугольник 58"/>
          <p:cNvSpPr/>
          <p:nvPr/>
        </p:nvSpPr>
        <p:spPr bwMode="auto">
          <a:xfrm>
            <a:off x="4956711" y="1522005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46720000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Back-end р</a:t>
            </a:r>
            <a:r>
              <a:rPr lang="ru-RU" sz="1200">
                <a:solidFill>
                  <a:schemeClr val="tx1"/>
                </a:solidFill>
              </a:rPr>
              <a:t>азработчик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@</a:t>
            </a:r>
            <a:r>
              <a:rPr lang="en-US" sz="1200">
                <a:solidFill>
                  <a:schemeClr val="tx1"/>
                </a:solidFill>
              </a:rPr>
              <a:t>senior1_0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+79873945543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ГБПОУ «Богородский Политехнический Техникум»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63742900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Александр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>
                <a:solidFill>
                  <a:schemeClr val="accent5"/>
                </a:solidFill>
              </a:rPr>
              <a:t>Лушин</a:t>
            </a:r>
            <a:endParaRPr/>
          </a:p>
        </p:txBody>
      </p:sp>
      <p:sp>
        <p:nvSpPr>
          <p:cNvPr id="794450735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0896569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Веб-разработчик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@HerHusbanddd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+79307133165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ГБПОУ «Богородский Политехнический Техникум»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89716765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Владислав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>
                <a:solidFill>
                  <a:schemeClr val="accent5"/>
                </a:solidFill>
              </a:rPr>
              <a:t>Бубенин</a:t>
            </a:r>
            <a:endParaRPr lang="ru-RU" sz="1600" b="1">
              <a:solidFill>
                <a:schemeClr val="accent5"/>
              </a:solidFill>
            </a:endParaRPr>
          </a:p>
        </p:txBody>
      </p:sp>
      <p:sp>
        <p:nvSpPr>
          <p:cNvPr id="1312242444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95292428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Веб-разработчик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>
                <a:solidFill>
                  <a:schemeClr val="tx1"/>
                </a:solidFill>
              </a:rPr>
              <a:t>@Legorka228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+79290492421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ГБПОУ «Богородский Политехнический Техникум»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9301686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Егор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>
                <a:solidFill>
                  <a:schemeClr val="accent5"/>
                </a:solidFill>
              </a:rPr>
              <a:t>Кузнецов</a:t>
            </a:r>
            <a:endParaRPr/>
          </a:p>
        </p:txBody>
      </p:sp>
      <p:sp>
        <p:nvSpPr>
          <p:cNvPr id="78062890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7263380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638374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/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665023019" name=""/>
          <p:cNvPicPr>
            <a:picLocks noChangeAspect="1"/>
          </p:cNvPicPr>
          <p:nvPr>
            <p:ph type="pic" sz="quarter" idx="4294967295"/>
          </p:nvPr>
        </p:nvPicPr>
        <p:blipFill>
          <a:blip r:embed="rId3"/>
          <a:stretch/>
        </p:blipFill>
        <p:spPr bwMode="auto">
          <a:xfrm rot="0">
            <a:off x="666229" y="1816053"/>
            <a:ext cx="1552900" cy="1552900"/>
          </a:xfrm>
          <a:prstGeom prst="rect">
            <a:avLst/>
          </a:prstGeom>
        </p:spPr>
      </p:pic>
      <p:pic>
        <p:nvPicPr>
          <p:cNvPr id="1485198960" name=""/>
          <p:cNvPicPr>
            <a:picLocks noChangeAspect="1"/>
          </p:cNvPicPr>
          <p:nvPr>
            <p:ph type="pic" sz="quarter" idx="4294967295"/>
          </p:nvPr>
        </p:nvPicPr>
        <p:blipFill>
          <a:blip r:embed="rId4"/>
          <a:stretch/>
        </p:blipFill>
        <p:spPr bwMode="auto">
          <a:xfrm rot="0">
            <a:off x="2976549" y="1826553"/>
            <a:ext cx="1542400" cy="1542400"/>
          </a:xfrm>
          <a:prstGeom prst="rect">
            <a:avLst/>
          </a:prstGeom>
        </p:spPr>
      </p:pic>
      <p:pic>
        <p:nvPicPr>
          <p:cNvPr id="1574717056" name=""/>
          <p:cNvPicPr>
            <a:picLocks noChangeAspect="1"/>
          </p:cNvPicPr>
          <p:nvPr>
            <p:ph type="pic" sz="quarter" idx="4294967295"/>
          </p:nvPr>
        </p:nvPicPr>
        <p:blipFill>
          <a:blip r:embed="rId5"/>
          <a:stretch/>
        </p:blipFill>
        <p:spPr bwMode="auto">
          <a:xfrm rot="0">
            <a:off x="5273208" y="1809237"/>
            <a:ext cx="1559716" cy="1559716"/>
          </a:xfrm>
          <a:prstGeom prst="rect">
            <a:avLst/>
          </a:prstGeom>
        </p:spPr>
      </p:pic>
      <p:pic>
        <p:nvPicPr>
          <p:cNvPr id="1165260155" name=""/>
          <p:cNvPicPr>
            <a:picLocks noChangeAspect="1"/>
          </p:cNvPicPr>
          <p:nvPr>
            <p:ph type="pic" sz="quarter" idx="4294967295"/>
          </p:nvPr>
        </p:nvPicPr>
        <p:blipFill>
          <a:blip r:embed="rId6"/>
          <a:stretch/>
        </p:blipFill>
        <p:spPr bwMode="auto">
          <a:xfrm rot="0">
            <a:off x="7601632" y="1809237"/>
            <a:ext cx="1559716" cy="1559716"/>
          </a:xfrm>
          <a:prstGeom prst="rect">
            <a:avLst/>
          </a:prstGeom>
        </p:spPr>
      </p:pic>
      <p:pic>
        <p:nvPicPr>
          <p:cNvPr id="1875996142" name=""/>
          <p:cNvPicPr>
            <a:picLocks noChangeAspect="1"/>
          </p:cNvPicPr>
          <p:nvPr>
            <p:ph type="pic" sz="quarter" idx="4294967295"/>
          </p:nvPr>
        </p:nvPicPr>
        <p:blipFill>
          <a:blip r:embed="rId7"/>
          <a:stretch/>
        </p:blipFill>
        <p:spPr bwMode="auto">
          <a:xfrm rot="0">
            <a:off x="9883846" y="1809237"/>
            <a:ext cx="1559716" cy="1559716"/>
          </a:xfrm>
          <a:prstGeom prst="rect">
            <a:avLst/>
          </a:prstGeom>
        </p:spPr>
      </p:pic>
      <p:sp>
        <p:nvSpPr>
          <p:cNvPr id="1715124565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КОМАНДА «</a:t>
            </a:r>
            <a:r>
              <a:rPr lang="en-US">
                <a:latin typeface="Montserrat"/>
              </a:rPr>
              <a:t>MATRIX</a:t>
            </a:r>
            <a:r>
              <a:rPr lang="ru-RU">
                <a:latin typeface="Montserrat"/>
              </a:rPr>
              <a:t>»</a:t>
            </a:r>
            <a:endParaRPr lang="ru-RU">
              <a:latin typeface="+mn-lt"/>
            </a:endParaRPr>
          </a:p>
        </p:txBody>
      </p:sp>
      <p:sp>
        <p:nvSpPr>
          <p:cNvPr id="2013900287" name="Текст 8"/>
          <p:cNvSpPr>
            <a:spLocks noGrp="1"/>
          </p:cNvSpPr>
          <p:nvPr>
            <p:ph type="body" sz="quarter" idx="27"/>
          </p:nvPr>
        </p:nvSpPr>
        <p:spPr bwMode="auto">
          <a:xfrm flipH="0" flipV="0">
            <a:off x="518359" y="4250027"/>
            <a:ext cx="1942440" cy="16246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Графический дизайнер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@Abyssqwalker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+79202986808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ГБПОУ «Богородский Политехнический Техникум»</a:t>
            </a:r>
            <a:endParaRPr/>
          </a:p>
        </p:txBody>
      </p:sp>
      <p:sp>
        <p:nvSpPr>
          <p:cNvPr id="1207813028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Сергей</a:t>
            </a:r>
            <a:br>
              <a:rPr lang="ru-RU" sz="1600" b="1">
                <a:solidFill>
                  <a:schemeClr val="accent5"/>
                </a:solidFill>
              </a:rPr>
            </a:br>
            <a:r>
              <a:rPr lang="ru-RU" sz="1600" b="1" i="0" u="none" strike="noStrike" cap="none" spc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Кальмин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43773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346389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83084167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n-lt"/>
              </a:rPr>
              <a:t>КОМАНДА «</a:t>
            </a:r>
            <a:r>
              <a:rPr lang="en-US">
                <a:latin typeface="Montserrat"/>
              </a:rPr>
              <a:t>MATRIX</a:t>
            </a:r>
            <a:r>
              <a:rPr lang="ru-RU">
                <a:latin typeface="Montserrat"/>
              </a:rPr>
              <a:t>»</a:t>
            </a:r>
            <a:endParaRPr lang="ru-RU">
              <a:latin typeface="+mn-lt"/>
            </a:endParaRPr>
          </a:p>
        </p:txBody>
      </p:sp>
      <p:sp>
        <p:nvSpPr>
          <p:cNvPr id="88078912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  <a:endParaRPr/>
          </a:p>
        </p:txBody>
      </p:sp>
      <p:sp>
        <p:nvSpPr>
          <p:cNvPr id="954583109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878745706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которые повлияли на ход вашего участия в хакатоне.</a:t>
            </a:r>
            <a:endParaRPr/>
          </a:p>
        </p:txBody>
      </p:sp>
      <p:sp>
        <p:nvSpPr>
          <p:cNvPr id="1221241604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62967588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  <a:endParaRPr/>
          </a:p>
        </p:txBody>
      </p:sp>
      <p:sp>
        <p:nvSpPr>
          <p:cNvPr id="1204403929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717226054" name="Прямая соединительная линия 4"/>
          <p:cNvCxnSpPr>
            <a:cxnSpLocks/>
          </p:cNvCxnSpPr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7820992" name="Прямая соединительная линия 5"/>
          <p:cNvCxnSpPr>
            <a:cxnSpLocks/>
          </p:cNvCxnSpPr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561775" name="Прямая соединительная линия 7"/>
          <p:cNvCxnSpPr>
            <a:cxnSpLocks/>
          </p:cNvCxnSpPr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6945640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2094070248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2080974296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852491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50440544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44503785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466807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/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2065468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Мобильное приложение для Android. Основной игровой цикл работает без постоянного подключения к Интернету. Данные локального игрового профиля хранятся на устройстве. Логика игровой экономики, учебный контент, хранение данных и пользовательский интерфейс разделены на понятные компоненты.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8455925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Бесплатное просветительское приложение для детей 7–11 лет. Приложение помогает ребенку понять планирование расходов, различие между обязательными и необязательными покупками и принцип накопления на финансовую цель через игровой процесс.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5820551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68389637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99861034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18496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8549760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Дети получают карманные деньги, денежные подарки и участвуют в семейных покупках раньше, чем начинают понимать, откуда берутся деньги и как ими распоряжаться.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В возрасте 7–11 лет ребенок уже способен сравнивать цены, считать доступную сумму и копить на понятную цель, но абстрактные объяснения про доходы и расходы быстро утомляют.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Целевая аудитория — дети 7–11 лет, которые только знакомятся с управлением карманными деньгами.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5993947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228419004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i="0" u="none" strike="noStrike" cap="none" spc="0">
                <a:solidFill>
                  <a:schemeClr val="accent5"/>
                </a:solidFill>
                <a:latin typeface="+mj-lt"/>
                <a:ea typeface="+mj-ea"/>
                <a:cs typeface="Amatic SC"/>
              </a:rPr>
              <a:t>ПРОБЛЕМА И ЦЕЛЕВАЯ АУДИТОРИЯ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516514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46801239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Понимать назначение личного и семейного бюджетов и то, что расходы не должны превышать доходов.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Различать обязательные и необязательные расходы: необходимое и желаемое.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Планировать простые покупки и принимать решения в условиях ограниченного бюджета.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Ставить краткосрочную финансовую цель и регулярно откладывать часть средств.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Оценивать собственные финансовые решения и объяснять, к чему они привели.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Использовать детское мобильное приложение для планирования бюджета и накоплений при участии значимого взрослого.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0189450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/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3135688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/>
              <a:t>ОБРАЗОВАТЕЛЬНЫЕ РЕЗУЛЬТАТЫ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6922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28652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/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77102216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1800" b="1" i="0" u="none" strike="noStrike" cap="none" spc="0">
                <a:solidFill>
                  <a:schemeClr val="accent5"/>
                </a:solidFill>
                <a:latin typeface="Montserrat"/>
                <a:ea typeface="Arial"/>
                <a:cs typeface="Amatic SC"/>
              </a:rPr>
              <a:t>ИДЕЯ ПРОДУКТА</a:t>
            </a:r>
            <a:endParaRPr sz="1800"/>
          </a:p>
        </p:txBody>
      </p:sp>
      <p:pic>
        <p:nvPicPr>
          <p:cNvPr id="1691606211" name=""/>
          <p:cNvPicPr>
            <a:picLocks noChangeAspect="1"/>
          </p:cNvPicPr>
          <p:nvPr>
            <p:ph type="pic" sz="quarter" idx="10"/>
          </p:nvPr>
        </p:nvPicPr>
        <p:blipFill>
          <a:blip r:embed="rId3"/>
          <a:stretch/>
        </p:blipFill>
        <p:spPr bwMode="auto">
          <a:xfrm rot="0" flipH="0" flipV="0">
            <a:off x="7920189" y="938529"/>
            <a:ext cx="2447622" cy="4980939"/>
          </a:xfrm>
          <a:prstGeom prst="rect">
            <a:avLst/>
          </a:prstGeom>
        </p:spPr>
      </p:pic>
      <p:sp>
        <p:nvSpPr>
          <p:cNvPr id="698866430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Ребенок создает виртуального питомца, получает и зарабатывает игровую валюту, планирует ее распределение на обязательные и необязательные расходы, формирует накопления и выполняет игровые задания по финансовой грамотности.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Состояние и развитие питомца зависят от финансовых решений пользователя.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650805" name="Заголовок 5"/>
          <p:cNvSpPr>
            <a:spLocks noGrp="1"/>
          </p:cNvSpPr>
          <p:nvPr>
            <p:ph type="title"/>
          </p:nvPr>
        </p:nvSpPr>
        <p:spPr bwMode="auto">
          <a:xfrm flipH="0" flipV="0">
            <a:off x="533489" y="370425"/>
            <a:ext cx="5765053" cy="442373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i="0" u="none" strike="noStrike" cap="none" spc="0">
                <a:solidFill>
                  <a:schemeClr val="accent5"/>
                </a:solidFill>
                <a:latin typeface="Montserrat"/>
                <a:ea typeface="Arial"/>
                <a:cs typeface="Amatic SC"/>
              </a:rPr>
              <a:t>ПЯТЬ ОСНОВНЫХ ПРИНЦИПОВ ПРОДУКТА</a:t>
            </a:r>
            <a:endParaRPr sz="2000"/>
          </a:p>
        </p:txBody>
      </p:sp>
      <p:sp>
        <p:nvSpPr>
          <p:cNvPr id="202207834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 marL="245329" indent="-245329">
              <a:buFont typeface="Arial"/>
              <a:buAutoNum type="arabicPeriod"/>
              <a:defRPr/>
            </a:pPr>
            <a:r>
              <a:rPr b="1">
                <a:solidFill>
                  <a:schemeClr val="tx1"/>
                </a:solidFill>
              </a:rPr>
              <a:t>Ограниченность ресурсов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За один игровой период нельзя купить всё сразу.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59720616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2</a:t>
            </a:r>
            <a:r>
              <a:rPr b="1">
                <a:solidFill>
                  <a:schemeClr val="tx1"/>
                </a:solidFill>
              </a:rPr>
              <a:t>. </a:t>
            </a:r>
            <a:r>
              <a:rPr b="1">
                <a:solidFill>
                  <a:schemeClr val="tx1"/>
                </a:solidFill>
              </a:rPr>
              <a:t>Планирование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Ребенок заранее распределяет доступную сумму.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52075333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3</a:t>
            </a:r>
            <a:r>
              <a:rPr b="1">
                <a:solidFill>
                  <a:schemeClr val="tx1"/>
                </a:solidFill>
              </a:rPr>
              <a:t>. </a:t>
            </a:r>
            <a:r>
              <a:rPr b="1">
                <a:solidFill>
                  <a:schemeClr val="tx1"/>
                </a:solidFill>
              </a:rPr>
              <a:t>Приоритеты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Бюджет разделяется на обязательные и необязательные расходы.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42722230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4</a:t>
            </a:r>
            <a:r>
              <a:rPr b="1">
                <a:solidFill>
                  <a:schemeClr val="tx1"/>
                </a:solidFill>
              </a:rPr>
              <a:t>. </a:t>
            </a:r>
            <a:r>
              <a:rPr b="1">
                <a:solidFill>
                  <a:schemeClr val="tx1"/>
                </a:solidFill>
              </a:rPr>
              <a:t>Накопления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Часть игровой валюты откладывается на финансовую цель.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31542536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5</a:t>
            </a:r>
            <a:r>
              <a:rPr b="1">
                <a:solidFill>
                  <a:schemeClr val="tx1"/>
                </a:solidFill>
              </a:rPr>
              <a:t>. </a:t>
            </a:r>
            <a:r>
              <a:rPr b="1">
                <a:solidFill>
                  <a:schemeClr val="tx1"/>
                </a:solidFill>
              </a:rPr>
              <a:t>Обратная связь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После финансового действия пользователь видит его результат и объяснение.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9035946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67887119" name="Прямая соединительная линия 1"/>
          <p:cNvCxnSpPr>
            <a:cxnSpLocks/>
          </p:cNvCxnSpPr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87176001" name="Прямая соединительная линия 3"/>
          <p:cNvCxnSpPr>
            <a:cxnSpLocks/>
          </p:cNvCxnSpPr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0444431" name="Прямая соединительная линия 12"/>
          <p:cNvCxnSpPr>
            <a:cxnSpLocks/>
          </p:cNvCxnSpPr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6167654" name="Прямая соединительная линия 13"/>
          <p:cNvCxnSpPr>
            <a:cxnSpLocks/>
          </p:cNvCxnSpPr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62207451" name="Прямая соединительная линия 14"/>
          <p:cNvCxnSpPr>
            <a:cxnSpLocks/>
          </p:cNvCxnSpPr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636902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1887322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39943619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9353418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140169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1303846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/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2479226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Виртуальный питомец 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66609016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Создание и настройка внешнего вида питомца «Красная панда».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19208239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Игровая валюта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2896278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Получение и использование условных единиц внутри приложения, бамбучинки.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0921147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План бюджета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7745913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Распределение доступной суммы на обязательные и необязательные расходы и накопления.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055280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Финансовая цель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5990620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Игроку нужно распределить свои виртуальные доходы так, чтобы откладывать определенную сумму каждый период, чтобы в итоге накопить на желаемую покупку. Это учит основам финансового планирования и дисциплины.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22814327" name="Заголовок 13"/>
          <p:cNvSpPr>
            <a:spLocks noGrp="1"/>
          </p:cNvSpPr>
          <p:nvPr>
            <p:ph type="title"/>
          </p:nvPr>
        </p:nvSpPr>
        <p:spPr bwMode="auto">
          <a:xfrm>
            <a:off x="346075" y="421225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КОМАНДА «</a:t>
            </a:r>
            <a:r>
              <a:rPr lang="en-US"/>
              <a:t>MATRIX</a:t>
            </a:r>
            <a:r>
              <a:rPr lang="ru-RU"/>
              <a:t>»</a:t>
            </a:r>
            <a:endParaRPr lang="ru-RU"/>
          </a:p>
        </p:txBody>
      </p:sp>
      <p:sp>
        <p:nvSpPr>
          <p:cNvPr id="148731449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419200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143912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548192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044339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31195721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6112028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1632912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530093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Покупки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51229409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Обязательные и необязательные покупки с указанием стоимости.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446405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Финансовые задания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27410276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Игровые ситуации с выбором и последствиями по темам бюджета, сбережений, платежей и покупок.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69730367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>
                <a:solidFill>
                  <a:srgbClr val="F92571"/>
                </a:solidFill>
              </a:rPr>
              <a:t>Обратная связь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21879351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Объяснение изменения баланса, накоплений и связанного показателя питомца.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952196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КОМАНДА «</a:t>
            </a:r>
            <a:r>
              <a:rPr lang="en-US">
                <a:solidFill>
                  <a:schemeClr val="accent5"/>
                </a:solidFill>
              </a:rPr>
              <a:t>MATRIX</a:t>
            </a:r>
            <a:r>
              <a:rPr lang="ru-RU">
                <a:solidFill>
                  <a:schemeClr val="accent5"/>
                </a:solidFill>
              </a:rPr>
              <a:t>»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8816377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418565947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97020953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031385" name="Скругленный прямоугольник 22"/>
          <p:cNvSpPr/>
          <p:nvPr/>
        </p:nvSpPr>
        <p:spPr bwMode="auto">
          <a:xfrm flipH="0" flipV="0">
            <a:off x="346074" y="324561"/>
            <a:ext cx="351110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6857625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69798202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Создание профиля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98092169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Ребёнок выбирает внешний вид питомца и игровое имя.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42162839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Получение бюджета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04738023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Пользователь получает игровую валюту, текущую финансовую цель и задания.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0575113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Планирование бюджета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1680869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Распределяет доступную сумму между обязательными расходами, желаемыми покупками и накоплениями.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4629347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Финансовые решения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86348911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Выполняет задания и совершает покупки в рамках доступного бюджета.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50190254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Накопления и обратная связь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637215632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Пополняет накопления, видит изменения баланса и состояния питомца.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60634449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92571"/>
                </a:solidFill>
              </a:rPr>
              <a:t>Новый игровой период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52719058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Сравнивает план и фактические расходы, после чего оценивается результат периода и развитие питомца.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14773762" name="Заголовок 13"/>
          <p:cNvSpPr>
            <a:spLocks noGrp="1"/>
          </p:cNvSpPr>
          <p:nvPr>
            <p:ph type="title"/>
          </p:nvPr>
        </p:nvSpPr>
        <p:spPr bwMode="auto">
          <a:xfrm>
            <a:off x="436823" y="421225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sz="1200"/>
              <a:t>ОСНОВНОЙ ПОЛЬЗОВАТЕЛЬСКИЙ ПУТЬ</a:t>
            </a:r>
            <a:endParaRPr lang="ru-RU" sz="1200"/>
          </a:p>
        </p:txBody>
      </p:sp>
      <p:sp>
        <p:nvSpPr>
          <p:cNvPr id="104411214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95394629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3670109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443049765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96816075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49608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886706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91928233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1839474724" name=""/>
          <p:cNvPicPr>
            <a:picLocks noChangeAspect="1"/>
          </p:cNvPicPr>
          <p:nvPr>
            <p:ph type="pic" sz="quarter" idx="10"/>
          </p:nvPr>
        </p:nvPicPr>
        <p:blipFill>
          <a:blip r:embed="rId3"/>
          <a:stretch/>
        </p:blipFill>
        <p:spPr bwMode="auto">
          <a:xfrm rot="0">
            <a:off x="7440147" y="1469390"/>
            <a:ext cx="4405776" cy="2171698"/>
          </a:xfrm>
          <a:prstGeom prst="rect">
            <a:avLst/>
          </a:prstGeom>
        </p:spPr>
      </p:pic>
      <p:pic>
        <p:nvPicPr>
          <p:cNvPr id="1480098954" name=""/>
          <p:cNvPicPr>
            <a:picLocks noChangeAspect="1"/>
          </p:cNvPicPr>
          <p:nvPr>
            <p:ph type="pic" sz="quarter" idx="11"/>
          </p:nvPr>
        </p:nvPicPr>
        <p:blipFill>
          <a:blip r:embed="rId4"/>
          <a:stretch/>
        </p:blipFill>
        <p:spPr bwMode="auto">
          <a:xfrm rot="0">
            <a:off x="7807328" y="4389107"/>
            <a:ext cx="3671416" cy="1811667"/>
          </a:xfrm>
          <a:prstGeom prst="rect">
            <a:avLst/>
          </a:prstGeom>
        </p:spPr>
      </p:pic>
      <p:pic>
        <p:nvPicPr>
          <p:cNvPr id="1895282210" name=""/>
          <p:cNvPicPr>
            <a:picLocks noChangeAspect="1"/>
          </p:cNvPicPr>
          <p:nvPr>
            <p:ph type="pic" sz="quarter" idx="12"/>
          </p:nvPr>
        </p:nvPicPr>
        <p:blipFill>
          <a:blip r:embed="rId5"/>
          <a:stretch/>
        </p:blipFill>
        <p:spPr bwMode="auto">
          <a:xfrm rot="0">
            <a:off x="729656" y="3223947"/>
            <a:ext cx="6038976" cy="2976826"/>
          </a:xfrm>
          <a:prstGeom prst="rect">
            <a:avLst/>
          </a:prstGeom>
        </p:spPr>
      </p:pic>
      <p:sp>
        <p:nvSpPr>
          <p:cNvPr id="1012926986" name="Текст 5"/>
          <p:cNvSpPr>
            <a:spLocks noGrp="1"/>
          </p:cNvSpPr>
          <p:nvPr>
            <p:ph type="body" sz="quarter" idx="14"/>
          </p:nvPr>
        </p:nvSpPr>
        <p:spPr bwMode="auto"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1600">
                <a:solidFill>
                  <a:schemeClr val="tx1"/>
                </a:solidFill>
              </a:rPr>
              <a:t>Ребёнок управляет виртуальным питомцем с помощью финансовых решений.</a:t>
            </a:r>
            <a:endParaRPr sz="2400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chemeClr val="tx1"/>
                </a:solidFill>
              </a:rPr>
              <a:t>В начале игрового периода пользователь получает ограниченный бюджет и распределяет его между обязательными расходами, желаемыми покупками и накоплениями.</a:t>
            </a:r>
            <a:endParaRPr sz="2400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chemeClr val="tx1"/>
                </a:solidFill>
              </a:rPr>
              <a:t>После этого ребёнок выполняет финансовые задания и совершает покупки. Каждое действие изменяет баланс, накопления и связанные с ними показатели питомца.</a:t>
            </a:r>
            <a:endParaRPr sz="2400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chemeClr val="tx1"/>
                </a:solidFill>
              </a:rPr>
              <a:t>В конце периода приложение показывает результат: что было запланировано, что было потрачено фактически, сколько удалось накопить и как изменилось состояние питомца.</a:t>
            </a:r>
            <a:endParaRPr sz="2400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chemeClr val="tx1"/>
                </a:solidFill>
              </a:rPr>
              <a:t>Таким образом, финансовое решение сразу превращается в понятный игровой результат.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508153458" name="Заголовок 13"/>
          <p:cNvSpPr>
            <a:spLocks noGrp="1"/>
          </p:cNvSpPr>
          <p:nvPr>
            <p:ph type="title"/>
          </p:nvPr>
        </p:nvSpPr>
        <p:spPr bwMode="auto">
          <a:xfrm flipH="0" flipV="0">
            <a:off x="369252" y="446952"/>
            <a:ext cx="3088648" cy="376137"/>
          </a:xfrm>
        </p:spPr>
        <p:txBody>
          <a:bodyPr/>
          <a:lstStyle/>
          <a:p>
            <a:pPr>
              <a:defRPr/>
            </a:pPr>
            <a:r>
              <a:rPr lang="ru-RU"/>
              <a:t>ИГРОВАЯ МЕХАНИКА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739374" name="Скругленный прямоугольник 1"/>
          <p:cNvSpPr/>
          <p:nvPr/>
        </p:nvSpPr>
        <p:spPr bwMode="auto">
          <a:xfrm flipH="0" flipV="0">
            <a:off x="346074" y="324561"/>
            <a:ext cx="345562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0962550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4127146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44231346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0470616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07265843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62766175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1251708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45329" indent="-245329" algn="l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Игровая валюта → </a:t>
            </a:r>
            <a:r>
              <a:rPr lang="ru-RU" sz="145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Бюджет </a:t>
            </a:r>
            <a:endParaRPr>
              <a:solidFill>
                <a:schemeClr val="tx1"/>
              </a:solidFill>
            </a:endParaRPr>
          </a:p>
          <a:p>
            <a:pPr marL="245329" indent="-245329" algn="l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Бюджет → </a:t>
            </a:r>
            <a:r>
              <a:rPr lang="ru-RU" sz="145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Расходы / Накопления</a:t>
            </a:r>
            <a:endParaRPr>
              <a:solidFill>
                <a:schemeClr val="tx1"/>
              </a:solidFill>
            </a:endParaRPr>
          </a:p>
          <a:p>
            <a:pPr marL="245329" indent="-245329" algn="l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Расходы / Накопления → </a:t>
            </a:r>
            <a:r>
              <a:rPr lang="ru-RU" sz="145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Результат</a:t>
            </a:r>
            <a:endParaRPr>
              <a:solidFill>
                <a:schemeClr val="tx1"/>
              </a:solidFill>
            </a:endParaRPr>
          </a:p>
          <a:p>
            <a:pPr marL="245329" indent="-245329" algn="l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Результат</a:t>
            </a:r>
            <a:endParaRPr>
              <a:solidFill>
                <a:schemeClr val="tx1"/>
              </a:solidFill>
            </a:endParaRPr>
          </a:p>
          <a:p>
            <a:pPr algn="l">
              <a:defRPr/>
            </a:pPr>
            <a:endParaRPr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chemeClr val="tx1"/>
                </a:solidFill>
              </a:rPr>
              <a:t>Все расчёты выполняются только внутри приложения. Игровая валюта не имеет реальной денежной ценности.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32465500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1. Получение валюты</a:t>
            </a:r>
            <a:br>
              <a:rPr b="1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Ребёнок получает игровую валюту за задания и/или периодический доход.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3274753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2. Доступный бюджет</a:t>
            </a:r>
            <a:br>
              <a:rPr b="1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Показывает сумму, которой пользователь может распоряжаться в текущем периоде.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59394246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3. Обязательные расходы</a:t>
            </a:r>
            <a:br>
              <a:rPr b="1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Траты на необходимые товары и действия.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4367088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4. Желаемые расходы</a:t>
            </a:r>
            <a:br>
              <a:rPr b="1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Покупки, которые влияют на настроение питомца и могут быть отложены.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72373088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5. Накопления</a:t>
            </a:r>
            <a:br>
              <a:rPr b="1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 Отдельная сумма, которая направляется на выбранную финансовую цель.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4598330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3824655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1778" y="446952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ИГРОВАЯ ЭКОНОМИКА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039060" name="Скругленный прямоугольник 11"/>
          <p:cNvSpPr/>
          <p:nvPr/>
        </p:nvSpPr>
        <p:spPr bwMode="auto">
          <a:xfrm flipH="0" flipV="0">
            <a:off x="6365154" y="2436285"/>
            <a:ext cx="5570537" cy="1061662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53540430" name="Скругленный прямоугольник 11"/>
          <p:cNvSpPr/>
          <p:nvPr/>
        </p:nvSpPr>
        <p:spPr bwMode="auto">
          <a:xfrm flipH="0" flipV="0">
            <a:off x="6365154" y="3798155"/>
            <a:ext cx="5570537" cy="1154548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66149099" name="Скругленный прямоугольник 11"/>
          <p:cNvSpPr/>
          <p:nvPr/>
        </p:nvSpPr>
        <p:spPr bwMode="auto">
          <a:xfrm flipH="0" flipV="0">
            <a:off x="6365154" y="1199818"/>
            <a:ext cx="5570537" cy="1056589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5199565" name="Скругленный прямоугольник 13"/>
          <p:cNvSpPr/>
          <p:nvPr/>
        </p:nvSpPr>
        <p:spPr bwMode="auto">
          <a:xfrm flipH="0" flipV="0">
            <a:off x="6365154" y="5145526"/>
            <a:ext cx="5570537" cy="1045691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30653852" name="Скругленный прямоугольник 13"/>
          <p:cNvSpPr/>
          <p:nvPr/>
        </p:nvSpPr>
        <p:spPr bwMode="auto">
          <a:xfrm flipH="0" flipV="0">
            <a:off x="346073" y="5029481"/>
            <a:ext cx="5570537" cy="1161736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97885604" name="Скругленный прямоугольник 11"/>
          <p:cNvSpPr/>
          <p:nvPr/>
        </p:nvSpPr>
        <p:spPr bwMode="auto">
          <a:xfrm>
            <a:off x="346073" y="3114649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81855634" name="Скругленный прямоугольник 10"/>
          <p:cNvSpPr/>
          <p:nvPr/>
        </p:nvSpPr>
        <p:spPr bwMode="auto">
          <a:xfrm>
            <a:off x="346073" y="119981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00617178" name="Скругленный прямоугольник 1"/>
          <p:cNvSpPr/>
          <p:nvPr/>
        </p:nvSpPr>
        <p:spPr bwMode="auto">
          <a:xfrm flipH="0" flipV="0">
            <a:off x="387688" y="760506"/>
            <a:ext cx="351110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4204643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66357065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1210" y="1405251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Планирование бюджета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1119242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1210" y="2005317"/>
            <a:ext cx="4790314" cy="779602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Задания по распределению доступных средств.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6248072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1210" y="3234636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Формирование сбережений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77838151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1210" y="3832445"/>
            <a:ext cx="4790314" cy="869021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Задания по накоплению средств на финансовую цель.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6582269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1210" y="5248335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Платежи и покупки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6106868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1210" y="5610349"/>
            <a:ext cx="4790314" cy="84801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Игровые ситуации с обязательными и необязательными расходами.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27486623" name="Заголовок 13"/>
          <p:cNvSpPr>
            <a:spLocks noGrp="1"/>
          </p:cNvSpPr>
          <p:nvPr>
            <p:ph type="title"/>
          </p:nvPr>
        </p:nvSpPr>
        <p:spPr bwMode="auto">
          <a:xfrm flipH="0" flipV="0">
            <a:off x="387687" y="882897"/>
            <a:ext cx="3594338" cy="376137"/>
          </a:xfrm>
        </p:spPr>
        <p:txBody>
          <a:bodyPr/>
          <a:lstStyle/>
          <a:p>
            <a:pPr>
              <a:defRPr/>
            </a:pPr>
            <a:r>
              <a:rPr lang="ru-RU"/>
              <a:t>ФИНАНСОВЫЕ ЗАДАНИЯ</a:t>
            </a:r>
            <a:endParaRPr lang="ru-RU"/>
          </a:p>
        </p:txBody>
      </p:sp>
      <p:sp>
        <p:nvSpPr>
          <p:cNvPr id="1540794340" name="Текст 2"/>
          <p:cNvSpPr>
            <a:spLocks noGrp="1"/>
          </p:cNvSpPr>
          <p:nvPr/>
        </p:nvSpPr>
        <p:spPr bwMode="auto">
          <a:xfrm>
            <a:off x="6709029" y="1381425"/>
            <a:ext cx="4790313" cy="102170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Планирование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113097195" name="Текст 3"/>
          <p:cNvSpPr>
            <a:spLocks noGrp="1"/>
          </p:cNvSpPr>
          <p:nvPr/>
        </p:nvSpPr>
        <p:spPr bwMode="auto">
          <a:xfrm>
            <a:off x="6709029" y="1692243"/>
            <a:ext cx="4790313" cy="642163"/>
          </a:xfrm>
        </p:spPr>
        <p:txBody>
          <a:bodyPr vert="horz" lIns="91440" tIns="45720" rIns="91440" bIns="45720" rtlCol="0">
            <a:norm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Понимание необходимости планировать расходы в пределах имеющегося бюджета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31721137" name="Текст 4"/>
          <p:cNvSpPr>
            <a:spLocks noGrp="1"/>
          </p:cNvSpPr>
          <p:nvPr/>
        </p:nvSpPr>
        <p:spPr bwMode="auto">
          <a:xfrm>
            <a:off x="6755266" y="2603798"/>
            <a:ext cx="4790313" cy="102170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Приоритеты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381772643" name="Текст 5"/>
          <p:cNvSpPr>
            <a:spLocks noGrp="1"/>
          </p:cNvSpPr>
          <p:nvPr/>
        </p:nvSpPr>
        <p:spPr bwMode="auto">
          <a:xfrm>
            <a:off x="6755266" y="2948669"/>
            <a:ext cx="4790313" cy="642163"/>
          </a:xfrm>
        </p:spPr>
        <p:txBody>
          <a:bodyPr vert="horz" lIns="91440" tIns="45720" rIns="91440" bIns="45720" rtlCol="0">
            <a:norm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Различие обязательных и желаемых расходов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20295531" name="Текст 6"/>
          <p:cNvSpPr>
            <a:spLocks noGrp="1"/>
          </p:cNvSpPr>
          <p:nvPr/>
        </p:nvSpPr>
        <p:spPr bwMode="auto">
          <a:xfrm>
            <a:off x="6755266" y="3913826"/>
            <a:ext cx="4790313" cy="102170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8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Накопление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70181992" name="Текст 7"/>
          <p:cNvSpPr>
            <a:spLocks noGrp="1"/>
          </p:cNvSpPr>
          <p:nvPr/>
        </p:nvSpPr>
        <p:spPr bwMode="auto">
          <a:xfrm>
            <a:off x="6755266" y="4311804"/>
            <a:ext cx="4790313" cy="642163"/>
          </a:xfrm>
        </p:spPr>
        <p:txBody>
          <a:bodyPr vert="horz" lIns="91440" tIns="45720" rIns="91440" bIns="45720" rtlCol="0">
            <a:norm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Постановка финансовой цели и регулярное откладывание средств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35065869" name="Текст 8"/>
          <p:cNvSpPr>
            <a:spLocks noGrp="1"/>
          </p:cNvSpPr>
          <p:nvPr/>
        </p:nvSpPr>
        <p:spPr bwMode="auto">
          <a:xfrm>
            <a:off x="6755266" y="5145526"/>
            <a:ext cx="4790313" cy="1021700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0">
                <a:solidFill>
                  <a:schemeClr val="tx1"/>
                </a:solidFill>
              </a:rPr>
              <a:t>Анализ решений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836333393" name="Текст 9"/>
          <p:cNvSpPr>
            <a:spLocks noGrp="1"/>
          </p:cNvSpPr>
          <p:nvPr/>
        </p:nvSpPr>
        <p:spPr bwMode="auto">
          <a:xfrm>
            <a:off x="6755266" y="5525063"/>
            <a:ext cx="4790313" cy="642163"/>
          </a:xfrm>
        </p:spPr>
        <p:txBody>
          <a:bodyPr vert="horz" lIns="91440" tIns="45720" rIns="91440" bIns="45720" rtlCol="0">
            <a:normAutofit/>
          </a:bodyPr>
          <a:lstStyle>
            <a:lvl1pPr marL="144687" indent="-144687" algn="l" defTabSz="578754">
              <a:lnSpc>
                <a:spcPct val="90000"/>
              </a:lnSpc>
              <a:spcBef>
                <a:spcPts val="630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6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199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4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3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1" indent="-144687" algn="l" defTabSz="578754">
              <a:lnSpc>
                <a:spcPct val="90000"/>
              </a:lnSpc>
              <a:spcBef>
                <a:spcPts val="316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Понимание того, как собственные финансовые решения повлияли на результат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93711135" name="Скругленный прямоугольник 1"/>
          <p:cNvSpPr/>
          <p:nvPr/>
        </p:nvSpPr>
        <p:spPr bwMode="auto">
          <a:xfrm flipH="0" flipV="0">
            <a:off x="8452326" y="823089"/>
            <a:ext cx="340013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13023701" name="Заголовок 13"/>
          <p:cNvSpPr>
            <a:spLocks noGrp="1"/>
          </p:cNvSpPr>
          <p:nvPr/>
        </p:nvSpPr>
        <p:spPr bwMode="auto">
          <a:xfrm flipH="0" flipV="0">
            <a:off x="8499412" y="945480"/>
            <a:ext cx="9995388" cy="376137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4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ru-RU"/>
              <a:t>ФИНАНСОВЫЕ НАВЫКИ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11418" name="Скругленный прямоугольник 1"/>
          <p:cNvSpPr/>
          <p:nvPr/>
        </p:nvSpPr>
        <p:spPr bwMode="auto">
          <a:xfrm flipH="0" flipV="0">
            <a:off x="346074" y="324561"/>
            <a:ext cx="359433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8823625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/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34023916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6"/>
                </a:solidFill>
              </a:rPr>
              <a:t>Обязательные расходы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9755407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Необходимые регулярные товары и действия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1785413044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5"/>
                </a:solidFill>
              </a:rPr>
              <a:t>Желаемые расходы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7483111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Покупки, которые влияют на настроение питомца и могут быть отложены.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43972992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>
                <a:solidFill>
                  <a:schemeClr val="accent6"/>
                </a:solidFill>
              </a:rPr>
              <a:t>Накопления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400785484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Средства, которые откладываются отдельно для достижения выбранной цели.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29886400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0">
                <a:solidFill>
                  <a:srgbClr val="5B177E"/>
                </a:solidFill>
              </a:rPr>
              <a:t>Ограничение бюджета</a:t>
            </a:r>
            <a:endParaRPr b="0">
              <a:solidFill>
                <a:srgbClr val="5B177E"/>
              </a:solidFill>
            </a:endParaRPr>
          </a:p>
        </p:txBody>
      </p:sp>
      <p:sp>
        <p:nvSpPr>
          <p:cNvPr id="98073283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5B177E"/>
                </a:solidFill>
              </a:rPr>
              <a:t>Сумма распределения не может превышать доступный бюджет.</a:t>
            </a:r>
            <a:endParaRPr>
              <a:solidFill>
                <a:srgbClr val="5B177E"/>
              </a:solidFill>
            </a:endParaRPr>
          </a:p>
        </p:txBody>
      </p:sp>
      <p:sp>
        <p:nvSpPr>
          <p:cNvPr id="1957931997" name="Заголовок 13"/>
          <p:cNvSpPr>
            <a:spLocks noGrp="1"/>
          </p:cNvSpPr>
          <p:nvPr>
            <p:ph type="title"/>
          </p:nvPr>
        </p:nvSpPr>
        <p:spPr bwMode="auto">
          <a:xfrm flipH="0" flipV="0">
            <a:off x="346073" y="446952"/>
            <a:ext cx="10042475" cy="376137"/>
          </a:xfrm>
        </p:spPr>
        <p:txBody>
          <a:bodyPr/>
          <a:lstStyle/>
          <a:p>
            <a:pPr>
              <a:defRPr/>
            </a:pPr>
            <a:r>
              <a:rPr lang="ru-RU" sz="1800"/>
              <a:t>РАСПРЕДЕЛЕНИЕ БЮДЖЕТА</a:t>
            </a:r>
            <a:endParaRPr lang="ru-RU" sz="1800"/>
          </a:p>
        </p:txBody>
      </p:sp>
      <p:pic>
        <p:nvPicPr>
          <p:cNvPr id="16433115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62610" y="1360287"/>
            <a:ext cx="2370274" cy="4823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62555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51738652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16211693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12469663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sz="1600" b="1">
              <a:solidFill>
                <a:schemeClr val="accent2"/>
              </a:solidFill>
            </a:endParaRPr>
          </a:p>
        </p:txBody>
      </p:sp>
      <p:sp>
        <p:nvSpPr>
          <p:cNvPr id="1508409823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7303442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8063745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89653285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Профиль и питомец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локальный профиль;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игровое имя;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выбор внешнего вида питомца;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сохранение прогресса на устройстве.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3227178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Бюджет и покупки</a:t>
            </a:r>
            <a:endParaRPr b="1"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планирование бюджета;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обязательные и желаемые расходы;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каталог товаров;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блокировка покупки при недостатке средств.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94527875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Накопления и задания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финансовые цели;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накопления;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финансовые игровые задания;</a:t>
            </a:r>
            <a:endParaRPr>
              <a:solidFill>
                <a:schemeClr val="tx1"/>
              </a:solidFill>
            </a:endParaRPr>
          </a:p>
          <a:p>
            <a:pPr marL="217793" indent="-217793">
              <a:buFont typeface="Arial"/>
              <a:buAutoNum type="arabicPeriod"/>
              <a:defRPr/>
            </a:pPr>
            <a:r>
              <a:rPr>
                <a:solidFill>
                  <a:schemeClr val="tx1"/>
                </a:solidFill>
              </a:rPr>
              <a:t>обратная связь после решений.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755806077" name="Google Shape;2799;p94"/>
          <p:cNvCxnSpPr>
            <a:cxnSpLocks/>
          </p:cNvCxnSpPr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4500988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548735753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576209234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430618366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10052700" name="Заголовок 13"/>
          <p:cNvSpPr>
            <a:spLocks noGrp="1"/>
          </p:cNvSpPr>
          <p:nvPr>
            <p:ph type="title"/>
          </p:nvPr>
        </p:nvSpPr>
        <p:spPr bwMode="auto">
          <a:xfrm flipH="0" flipV="0">
            <a:off x="346074" y="421225"/>
            <a:ext cx="10042475" cy="376137"/>
          </a:xfrm>
        </p:spPr>
        <p:txBody>
          <a:bodyPr/>
          <a:lstStyle/>
          <a:p>
            <a:pPr>
              <a:defRPr/>
            </a:pPr>
            <a:r>
              <a:rPr lang="ru-RU" sz="1600"/>
              <a:t>ОБЯЗАТЕЛЬНЫЕ ФУНКЦИИ</a:t>
            </a:r>
            <a:endParaRPr lang="ru-RU" sz="1600"/>
          </a:p>
        </p:txBody>
      </p:sp>
      <p:cxnSp>
        <p:nvCxnSpPr>
          <p:cNvPr id="420267109" name="Google Shape;2799;p94"/>
          <p:cNvCxnSpPr>
            <a:cxnSpLocks/>
          </p:cNvCxnSpPr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01900" name="Скругленный прямоугольник 11"/>
          <p:cNvSpPr/>
          <p:nvPr/>
        </p:nvSpPr>
        <p:spPr bwMode="auto">
          <a:xfrm flipH="0" flipV="0">
            <a:off x="346074" y="324561"/>
            <a:ext cx="3643389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4318093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45960220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0">
                <a:solidFill>
                  <a:srgbClr val="5B177E"/>
                </a:solidFill>
              </a:rPr>
              <a:t>Получить бюджет</a:t>
            </a:r>
            <a:endParaRPr b="0">
              <a:solidFill>
                <a:srgbClr val="5B177E"/>
              </a:solidFill>
            </a:endParaRPr>
          </a:p>
        </p:txBody>
      </p:sp>
      <p:sp>
        <p:nvSpPr>
          <p:cNvPr id="666805963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Бюджет</a:t>
            </a:r>
            <a:endParaRPr>
              <a:solidFill>
                <a:schemeClr val="tx1"/>
              </a:solidFill>
            </a:endParaRP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Ограничивает доступную сумму.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70148736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0">
                <a:solidFill>
                  <a:srgbClr val="5B177E"/>
                </a:solidFill>
              </a:rPr>
              <a:t>Совершить действие</a:t>
            </a:r>
            <a:endParaRPr b="0">
              <a:solidFill>
                <a:srgbClr val="5B177E"/>
              </a:solidFill>
            </a:endParaRPr>
          </a:p>
        </p:txBody>
      </p:sp>
      <p:sp>
        <p:nvSpPr>
          <p:cNvPr id="1483689736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Покупка или задание</a:t>
            </a:r>
            <a:endParaRPr>
              <a:solidFill>
                <a:schemeClr val="tx1"/>
              </a:solidFill>
            </a:endParaRP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Ребёнок принимает решение.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17065019" name="Текст 5"/>
          <p:cNvSpPr>
            <a:spLocks noGrp="1"/>
          </p:cNvSpPr>
          <p:nvPr>
            <p:ph type="body" sz="quarter" idx="30"/>
          </p:nvPr>
        </p:nvSpPr>
        <p:spPr bwMode="auto">
          <a:xfrm flipH="0" flipV="0">
            <a:off x="9193033" y="1458074"/>
            <a:ext cx="2779591" cy="1476686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sz="1400" b="0">
                <a:solidFill>
                  <a:srgbClr val="5B177E"/>
                </a:solidFill>
              </a:rPr>
              <a:t>Скорректировать следующий период</a:t>
            </a:r>
            <a:endParaRPr sz="1400" b="0">
              <a:solidFill>
                <a:srgbClr val="5B177E"/>
              </a:solidFill>
            </a:endParaRPr>
          </a:p>
        </p:txBody>
      </p:sp>
      <p:sp>
        <p:nvSpPr>
          <p:cNvPr id="1891130641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1" y="1897305"/>
            <a:ext cx="2526079" cy="11206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Следующий период</a:t>
            </a:r>
            <a:endParaRPr b="1">
              <a:solidFill>
                <a:schemeClr val="tx1"/>
              </a:solidFill>
            </a:endParaRP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Ребёнок применяет полученный опыт.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70537477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sz="1400" b="0">
                <a:solidFill>
                  <a:srgbClr val="5B177E"/>
                </a:solidFill>
              </a:rPr>
              <a:t>Распределить</a:t>
            </a:r>
            <a:r>
              <a:rPr sz="1400" b="0">
                <a:solidFill>
                  <a:srgbClr val="5B177E"/>
                </a:solidFill>
              </a:rPr>
              <a:t> средства</a:t>
            </a:r>
            <a:endParaRPr sz="1400" b="0">
              <a:solidFill>
                <a:srgbClr val="5B177E"/>
              </a:solidFill>
            </a:endParaRPr>
          </a:p>
        </p:txBody>
      </p:sp>
      <p:sp>
        <p:nvSpPr>
          <p:cNvPr id="1714799326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План</a:t>
            </a:r>
            <a:endParaRPr>
              <a:solidFill>
                <a:schemeClr val="tx1"/>
              </a:solidFill>
            </a:endParaRP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Определяет распределение средств.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04915566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0">
                <a:solidFill>
                  <a:srgbClr val="5B177E"/>
                </a:solidFill>
              </a:rPr>
              <a:t>Получить результат</a:t>
            </a:r>
            <a:endParaRPr b="0">
              <a:solidFill>
                <a:srgbClr val="5B177E"/>
              </a:solidFill>
            </a:endParaRPr>
          </a:p>
        </p:txBody>
      </p:sp>
      <p:sp>
        <p:nvSpPr>
          <p:cNvPr id="958579731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Обратная связь</a:t>
            </a:r>
            <a:endParaRPr b="1">
              <a:solidFill>
                <a:schemeClr val="tx1"/>
              </a:solidFill>
            </a:endParaRP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Приложение объясняет результат.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316526818" name="Прямая соединительная линия 33"/>
          <p:cNvCxnSpPr>
            <a:cxnSpLocks/>
          </p:cNvCxnSpPr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663626" name="Прямая соединительная линия 34"/>
          <p:cNvCxnSpPr>
            <a:cxnSpLocks/>
          </p:cNvCxnSpPr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781341" name="Прямая соединительная линия 35"/>
          <p:cNvCxnSpPr>
            <a:cxnSpLocks/>
          </p:cNvCxnSpPr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098543" name="Прямая соединительная линия 36"/>
          <p:cNvCxnSpPr>
            <a:cxnSpLocks/>
          </p:cNvCxnSpPr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7999678" name="Прямая соединительная линия 37"/>
          <p:cNvCxnSpPr>
            <a:cxnSpLocks/>
          </p:cNvCxnSpPr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467239" name="Прямая соединительная линия 38"/>
          <p:cNvCxnSpPr>
            <a:cxnSpLocks/>
          </p:cNvCxnSpPr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691455" name="Прямая соединительная линия 39"/>
          <p:cNvCxnSpPr>
            <a:cxnSpLocks/>
          </p:cNvCxnSpPr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824500" name="Прямая соединительная линия 40"/>
          <p:cNvCxnSpPr>
            <a:cxnSpLocks/>
          </p:cNvCxnSpPr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488667" name="Прямая соединительная линия 41"/>
          <p:cNvCxnSpPr>
            <a:cxnSpLocks/>
          </p:cNvCxnSpPr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19034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370598130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592265171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808788232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542671784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205611285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sz="1800"/>
              <a:t>ФИНАНСОВОЕ РЕШЕНИЕ</a:t>
            </a:r>
            <a:endParaRPr lang="ru-RU" sz="1800"/>
          </a:p>
        </p:txBody>
      </p:sp>
      <p:sp>
        <p:nvSpPr>
          <p:cNvPr id="1317087790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563125145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066844486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166450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318885876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01047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629717652" name="Рисунок 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43638" y="904537"/>
            <a:ext cx="5020560" cy="3557363"/>
          </a:xfrm>
          <a:prstGeom prst="rect">
            <a:avLst/>
          </a:prstGeom>
        </p:spPr>
      </p:pic>
      <p:pic>
        <p:nvPicPr>
          <p:cNvPr id="880856103" name=""/>
          <p:cNvPicPr>
            <a:picLocks noChangeAspect="1"/>
          </p:cNvPicPr>
          <p:nvPr>
            <p:ph type="pic" sz="quarter" idx="14"/>
          </p:nvPr>
        </p:nvPicPr>
        <p:blipFill>
          <a:blip r:embed="rId4"/>
          <a:stretch/>
        </p:blipFill>
        <p:spPr bwMode="auto">
          <a:xfrm rot="0" flipH="0" flipV="0">
            <a:off x="3895533" y="1704403"/>
            <a:ext cx="4334670" cy="1966272"/>
          </a:xfrm>
          <a:prstGeom prst="rect">
            <a:avLst/>
          </a:prstGeom>
        </p:spPr>
      </p:pic>
      <p:sp>
        <p:nvSpPr>
          <p:cNvPr id="1681805751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24878195" name="Текст 3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питомец;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доступный баланс;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86418707" name="Текст 4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накопления;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текущая финансовая цель;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40565806" name="Текст 5"/>
          <p:cNvSpPr>
            <a:spLocks noGrp="1"/>
          </p:cNvSpPr>
          <p:nvPr>
            <p:ph type="body" sz="quarter" idx="17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ключевые показатели состояния;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активное задание;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переходы к бюджету, покупкам, накоплениям, прогрессу и разделу взрослого.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4060674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ГЛАВНЫЙ ЭКРАН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111591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269459064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932133785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196722679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79225317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Создание питомца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выбор внешнего вида;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игровое имя.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60698162" name="Текст 3"/>
          <p:cNvSpPr>
            <a:spLocks noGrp="1"/>
          </p:cNvSpPr>
          <p:nvPr>
            <p:ph type="body" sz="quarter" idx="16"/>
          </p:nvPr>
        </p:nvSpPr>
        <p:spPr bwMode="auto">
          <a:xfrm flipH="0" flipV="0">
            <a:off x="6857949" y="4324450"/>
            <a:ext cx="4996991" cy="19546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tx1"/>
                </a:solidFill>
              </a:rPr>
              <a:t>Планирование бюджета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доступный бюджет;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обязательные расходы;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желаемые расходы;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накопления;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оставшаяся сумма;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подтверждение плана.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309041700" name=""/>
          <p:cNvPicPr>
            <a:picLocks noChangeAspect="1"/>
          </p:cNvPicPr>
          <p:nvPr>
            <p:ph type="pic" sz="quarter" idx="14"/>
          </p:nvPr>
        </p:nvPicPr>
        <p:blipFill>
          <a:blip r:embed="rId3"/>
          <a:stretch/>
        </p:blipFill>
        <p:spPr bwMode="auto">
          <a:xfrm rot="0">
            <a:off x="1210641" y="1707867"/>
            <a:ext cx="4121687" cy="2024235"/>
          </a:xfrm>
          <a:prstGeom prst="rect">
            <a:avLst/>
          </a:prstGeom>
        </p:spPr>
      </p:pic>
      <p:pic>
        <p:nvPicPr>
          <p:cNvPr id="894103422" name=""/>
          <p:cNvPicPr>
            <a:picLocks noChangeAspect="1"/>
          </p:cNvPicPr>
          <p:nvPr>
            <p:ph type="pic" sz="quarter" idx="18"/>
          </p:nvPr>
        </p:nvPicPr>
        <p:blipFill>
          <a:blip r:embed="rId4"/>
          <a:stretch/>
        </p:blipFill>
        <p:spPr bwMode="auto">
          <a:xfrm rot="0">
            <a:off x="6855539" y="1704152"/>
            <a:ext cx="4121687" cy="2031665"/>
          </a:xfrm>
          <a:prstGeom prst="rect">
            <a:avLst/>
          </a:prstGeom>
        </p:spPr>
      </p:pic>
      <p:sp>
        <p:nvSpPr>
          <p:cNvPr id="433288206" name="Заголовок 13"/>
          <p:cNvSpPr>
            <a:spLocks noGrp="1"/>
          </p:cNvSpPr>
          <p:nvPr>
            <p:ph type="title"/>
          </p:nvPr>
        </p:nvSpPr>
        <p:spPr bwMode="auto">
          <a:xfrm>
            <a:off x="346074" y="421225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КЛЮЧЕВЫЕ ЭКРАНЫ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78279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882433466" name=""/>
          <p:cNvPicPr>
            <a:picLocks noChangeAspect="1"/>
          </p:cNvPicPr>
          <p:nvPr>
            <p:ph type="pic" sz="quarter" idx="14"/>
          </p:nvPr>
        </p:nvPicPr>
        <p:blipFill>
          <a:blip r:embed="rId3"/>
          <a:stretch/>
        </p:blipFill>
        <p:spPr bwMode="auto">
          <a:xfrm rot="0">
            <a:off x="5009871" y="1367348"/>
            <a:ext cx="2172254" cy="4339828"/>
          </a:xfrm>
          <a:prstGeom prst="rect">
            <a:avLst/>
          </a:prstGeom>
        </p:spPr>
      </p:pic>
      <p:sp>
        <p:nvSpPr>
          <p:cNvPr id="2003209908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5B177E"/>
                </a:solidFill>
              </a:rPr>
              <a:t>Пользовательский интерфейс</a:t>
            </a:r>
            <a:endParaRPr>
              <a:solidFill>
                <a:srgbClr val="5B177E"/>
              </a:solidFill>
            </a:endParaRPr>
          </a:p>
        </p:txBody>
      </p:sp>
      <p:sp>
        <p:nvSpPr>
          <p:cNvPr id="1268567781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Экраны приложения и взаимодействие ребёнка с системой.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73065276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5B177E"/>
                </a:solidFill>
              </a:rPr>
              <a:t>Учебный контент</a:t>
            </a:r>
            <a:endParaRPr>
              <a:solidFill>
                <a:srgbClr val="5B177E"/>
              </a:solidFill>
            </a:endParaRPr>
          </a:p>
        </p:txBody>
      </p:sp>
      <p:sp>
        <p:nvSpPr>
          <p:cNvPr id="881885984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Финансовые сценарии, задания, товары и цели.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20895216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5B177E"/>
                </a:solidFill>
              </a:rPr>
              <a:t>Игровая логика</a:t>
            </a:r>
            <a:endParaRPr>
              <a:solidFill>
                <a:srgbClr val="5B177E"/>
              </a:solidFill>
            </a:endParaRPr>
          </a:p>
        </p:txBody>
      </p:sp>
      <p:sp>
        <p:nvSpPr>
          <p:cNvPr id="541528102" name="Текст 8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Бюджет, покупки, задания, накопления и изменение состояния питомца.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18747677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5B177E"/>
                </a:solidFill>
              </a:rPr>
              <a:t>Хранилище данных</a:t>
            </a:r>
            <a:endParaRPr>
              <a:solidFill>
                <a:srgbClr val="5B177E"/>
              </a:solidFill>
            </a:endParaRPr>
          </a:p>
        </p:txBody>
      </p:sp>
      <p:sp>
        <p:nvSpPr>
          <p:cNvPr id="313987132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Локальное хранение профиля и прогресса на устройстве.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96310825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/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1955728540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456599421" name="Заголовок 13"/>
          <p:cNvSpPr>
            <a:spLocks noGrp="1"/>
          </p:cNvSpPr>
          <p:nvPr>
            <p:ph type="title"/>
          </p:nvPr>
        </p:nvSpPr>
        <p:spPr bwMode="auto">
          <a:xfrm flipH="0" flipV="0">
            <a:off x="356348" y="421225"/>
            <a:ext cx="10032201" cy="376137"/>
          </a:xfrm>
        </p:spPr>
        <p:txBody>
          <a:bodyPr/>
          <a:lstStyle/>
          <a:p>
            <a:pPr>
              <a:defRPr/>
            </a:pPr>
            <a:r>
              <a:rPr lang="ru-RU" sz="1800"/>
              <a:t>АРХИТЕКТУРА РЕШЕНИЯ</a:t>
            </a: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31395" name="Скругленный прямоугольник 11"/>
          <p:cNvSpPr/>
          <p:nvPr/>
        </p:nvSpPr>
        <p:spPr bwMode="auto">
          <a:xfrm>
            <a:off x="408574" y="4991826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85858525" name="Скругленный прямоугольник 13"/>
          <p:cNvSpPr/>
          <p:nvPr/>
        </p:nvSpPr>
        <p:spPr bwMode="auto"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11185155" name="Скругленный прямоугольник 14"/>
          <p:cNvSpPr/>
          <p:nvPr/>
        </p:nvSpPr>
        <p:spPr bwMode="auto"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62575356" name="Скругленный прямоугольник 15"/>
          <p:cNvSpPr/>
          <p:nvPr/>
        </p:nvSpPr>
        <p:spPr bwMode="auto"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67502383" name="Скругленный прямоугольник 9"/>
          <p:cNvSpPr/>
          <p:nvPr/>
        </p:nvSpPr>
        <p:spPr bwMode="auto">
          <a:xfrm flipH="0" flipV="0">
            <a:off x="346074" y="324561"/>
            <a:ext cx="444511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517898083" name=""/>
          <p:cNvPicPr>
            <a:picLocks noChangeAspect="1"/>
          </p:cNvPicPr>
          <p:nvPr>
            <p:ph type="pic" sz="quarter" idx="14"/>
          </p:nvPr>
        </p:nvPicPr>
        <p:blipFill>
          <a:blip r:embed="rId3"/>
          <a:stretch/>
        </p:blipFill>
        <p:spPr bwMode="auto">
          <a:xfrm rot="0">
            <a:off x="1044994" y="1144581"/>
            <a:ext cx="1726213" cy="3648143"/>
          </a:xfrm>
          <a:prstGeom prst="rect">
            <a:avLst/>
          </a:prstGeom>
        </p:spPr>
      </p:pic>
      <p:pic>
        <p:nvPicPr>
          <p:cNvPr id="729006208" name=""/>
          <p:cNvPicPr>
            <a:picLocks noChangeAspect="1"/>
          </p:cNvPicPr>
          <p:nvPr>
            <p:ph type="pic" sz="quarter" idx="15"/>
          </p:nvPr>
        </p:nvPicPr>
        <p:blipFill>
          <a:blip r:embed="rId4"/>
          <a:stretch/>
        </p:blipFill>
        <p:spPr bwMode="auto">
          <a:xfrm rot="0">
            <a:off x="3770384" y="1158090"/>
            <a:ext cx="1726213" cy="3621125"/>
          </a:xfrm>
          <a:prstGeom prst="rect">
            <a:avLst/>
          </a:prstGeom>
        </p:spPr>
      </p:pic>
      <p:pic>
        <p:nvPicPr>
          <p:cNvPr id="1877877821" name=""/>
          <p:cNvPicPr>
            <a:picLocks noChangeAspect="1"/>
          </p:cNvPicPr>
          <p:nvPr>
            <p:ph type="pic" sz="quarter" idx="16"/>
          </p:nvPr>
        </p:nvPicPr>
        <p:blipFill>
          <a:blip r:embed="rId5"/>
          <a:stretch/>
        </p:blipFill>
        <p:spPr bwMode="auto">
          <a:xfrm rot="0">
            <a:off x="6752862" y="1217096"/>
            <a:ext cx="1726213" cy="3512864"/>
          </a:xfrm>
          <a:prstGeom prst="rect">
            <a:avLst/>
          </a:prstGeom>
        </p:spPr>
      </p:pic>
      <p:pic>
        <p:nvPicPr>
          <p:cNvPr id="102136965" name=""/>
          <p:cNvPicPr>
            <a:picLocks noChangeAspect="1"/>
          </p:cNvPicPr>
          <p:nvPr>
            <p:ph type="pic" sz="quarter" idx="17"/>
          </p:nvPr>
        </p:nvPicPr>
        <p:blipFill>
          <a:blip r:embed="rId6"/>
          <a:stretch/>
        </p:blipFill>
        <p:spPr bwMode="auto">
          <a:xfrm rot="0">
            <a:off x="9621936" y="1196138"/>
            <a:ext cx="1726213" cy="3505542"/>
          </a:xfrm>
          <a:prstGeom prst="rect">
            <a:avLst/>
          </a:prstGeom>
        </p:spPr>
      </p:pic>
      <p:sp>
        <p:nvSpPr>
          <p:cNvPr id="148492739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/>
            </a:fld>
            <a:endParaRPr lang="ru-RU"/>
          </a:p>
        </p:txBody>
      </p:sp>
      <p:sp>
        <p:nvSpPr>
          <p:cNvPr id="175058347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449155" y="5035451"/>
            <a:ext cx="2658088" cy="127134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solidFill>
                  <a:srgbClr val="5B177E"/>
                </a:solidFill>
              </a:rPr>
              <a:t>1. Создание питомца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Выбор внешнего вида и игрового имени.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01053410" name="Текст 6"/>
          <p:cNvSpPr>
            <a:spLocks noGrp="1"/>
          </p:cNvSpPr>
          <p:nvPr>
            <p:ph type="body" sz="quarter" idx="19"/>
          </p:nvPr>
        </p:nvSpPr>
        <p:spPr bwMode="auto">
          <a:xfrm>
            <a:off x="3302624" y="5035451"/>
            <a:ext cx="2706185" cy="127134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solidFill>
                  <a:srgbClr val="5B177E"/>
                </a:solidFill>
              </a:rPr>
              <a:t>2. Главный экран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Баланс, накопления, цель, питомец и активное задание.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98079952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204192" y="5035451"/>
            <a:ext cx="2728103" cy="127134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solidFill>
                  <a:srgbClr val="5B177E"/>
                </a:solidFill>
              </a:rPr>
              <a:t>3. Планирование бюджета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Распределение доступных средств между тремя направлениями.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35170956" name="Текст 8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5035451"/>
            <a:ext cx="2739248" cy="127134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>
                <a:solidFill>
                  <a:srgbClr val="5B177E"/>
                </a:solidFill>
              </a:rPr>
              <a:t>4. Финансовая цель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Выбор цели и пополнение накоплений.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1711114828" name="Группа 121"/>
          <p:cNvGrpSpPr/>
          <p:nvPr/>
        </p:nvGrpSpPr>
        <p:grpSpPr bwMode="auto"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2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3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42" name="Рисунок 141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316171087" name="Группа 146"/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4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67" name="Рисунок 166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1836147481" name="Группа 171"/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4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5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6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7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8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9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0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1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2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3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4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5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6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7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8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9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0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1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192" name="Рисунок 191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4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5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6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632913712" name="Группа 196"/>
          <p:cNvGrpSpPr/>
          <p:nvPr/>
        </p:nvGrpSpPr>
        <p:grpSpPr bwMode="auto"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/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9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0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1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2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3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4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5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6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7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8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9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0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1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2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3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4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5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6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217" name="Рисунок 216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9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0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1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23346622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446952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РЕЗУЛЬТАТЫ ТЕСТИРОВАНИЯ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879785" name="Скругленный прямоугольник 9"/>
          <p:cNvSpPr/>
          <p:nvPr/>
        </p:nvSpPr>
        <p:spPr bwMode="auto">
          <a:xfrm flipH="0" flipV="0">
            <a:off x="346074" y="324561"/>
            <a:ext cx="405671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70449454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0A295A98-0AF2-1344-E193-008FA370D813}" type="slidenum">
              <a:rPr lang="ru-RU"/>
              <a:t/>
            </a:fld>
            <a:endParaRPr lang="ru-RU"/>
          </a:p>
        </p:txBody>
      </p:sp>
      <p:sp>
        <p:nvSpPr>
          <p:cNvPr id="70973774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446952"/>
            <a:ext cx="9862733" cy="376137"/>
          </a:xfrm>
        </p:spPr>
        <p:txBody>
          <a:bodyPr/>
          <a:lstStyle/>
          <a:p>
            <a:pPr>
              <a:defRPr/>
            </a:pPr>
            <a:r>
              <a:rPr lang="ru-RU"/>
              <a:t>ССЫЛКА НА РЕПОЗИТОРИЙ</a:t>
            </a:r>
            <a:endParaRPr lang="ru-RU"/>
          </a:p>
        </p:txBody>
      </p:sp>
      <p:sp>
        <p:nvSpPr>
          <p:cNvPr id="1821217372" name=""/>
          <p:cNvSpPr txBox="1"/>
          <p:nvPr/>
        </p:nvSpPr>
        <p:spPr bwMode="auto">
          <a:xfrm flipH="0" flipV="0">
            <a:off x="467678" y="1655315"/>
            <a:ext cx="15282428" cy="9449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u="sng">
                <a:solidFill>
                  <a:schemeClr val="bg1"/>
                </a:solidFill>
                <a:hlinkClick r:id="rId3" tooltip="https://github.com/smm12vlad-bot/Finny-pet"/>
              </a:rPr>
              <a:t>Ссылка на репозиторий</a:t>
            </a:r>
            <a:endParaRPr sz="2800" b="1" i="0" u="none" strike="noStrike" cap="none" spc="0">
              <a:solidFill>
                <a:schemeClr val="bg1"/>
              </a:solidFill>
              <a:latin typeface="Montserrat"/>
              <a:cs typeface="Montserrat"/>
            </a:endParaRPr>
          </a:p>
          <a:p>
            <a:pPr>
              <a:defRPr/>
            </a:pPr>
            <a:r>
              <a:rPr lang="ru-RU" sz="2800" b="1" i="0" u="sng" strike="noStrike" cap="none" spc="0">
                <a:solidFill>
                  <a:schemeClr val="bg1"/>
                </a:solidFill>
                <a:latin typeface="Montserrat"/>
                <a:cs typeface="Montserrat"/>
                <a:hlinkClick r:id="rId4" tooltip="https://github.com/smm12vlad-bot/Finny-pet/blob/main/README.md"/>
              </a:rPr>
              <a:t>Ссылка на сборку и сопроводительную рекомендацию</a:t>
            </a:r>
            <a:endParaRPr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ONLYOFFICE/7.2.1.36</Application>
  <DocSecurity>0</DocSecurity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Юшкова</dc:creator>
  <cp:keywords/>
  <dc:description/>
  <dc:identifier/>
  <dc:language/>
  <cp:lastModifiedBy/>
  <cp:revision>98</cp:revision>
  <dcterms:created xsi:type="dcterms:W3CDTF">2023-05-15T07:36:23Z</dcterms:created>
  <dcterms:modified xsi:type="dcterms:W3CDTF">2026-09-28T10:57:37Z</dcterms:modified>
  <cp:category/>
  <cp:contentStatus/>
  <cp:version/>
</cp:coreProperties>
</file>